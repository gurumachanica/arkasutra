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embeddedFontLst>
    <p:embeddedFont>
      <p:font typeface="Quattrocento Sans" panose="020B0502050000020003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d2f7fc73b_4_14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8d2f7fc73b_4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d2f7fc73b_4_1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8d2f7fc73b_4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134806" y="82610"/>
            <a:ext cx="7294926" cy="64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830262" y="2700764"/>
            <a:ext cx="9478010" cy="351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134806" y="82610"/>
            <a:ext cx="7294926" cy="64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2134806" y="82610"/>
            <a:ext cx="7294926" cy="64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134806" y="82610"/>
            <a:ext cx="7294926" cy="64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0262" y="2700764"/>
            <a:ext cx="9478010" cy="351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idcdmz.nrel.gov/sp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www.ogc.org/standards/citygml/" TargetMode="External"/><Relationship Id="rId4" Type="http://schemas.openxmlformats.org/officeDocument/2006/relationships/hyperlink" Target="https://www.mdpi.com/1996-1073/14/15/456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/>
        </p:nvSpPr>
        <p:spPr>
          <a:xfrm>
            <a:off x="1470042" y="-77251"/>
            <a:ext cx="1950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1306850" y="0"/>
            <a:ext cx="10018800" cy="1674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0" algn="ctr" rtl="0">
              <a:lnSpc>
                <a:spcPct val="181200"/>
              </a:lnSpc>
              <a:spcBef>
                <a:spcPts val="1680"/>
              </a:spcBef>
              <a:spcAft>
                <a:spcPts val="0"/>
              </a:spcAft>
              <a:buSzPts val="1100"/>
              <a:buNone/>
            </a:pPr>
            <a:endParaRPr sz="2200" b="0" u="none" dirty="0">
              <a:solidFill>
                <a:srgbClr val="212529"/>
              </a:solidFill>
              <a:highlight>
                <a:schemeClr val="lt1"/>
              </a:highlight>
            </a:endParaRPr>
          </a:p>
          <a:p>
            <a:pPr marL="0" marR="5080" lvl="0" indent="0" rtl="0">
              <a:lnSpc>
                <a:spcPct val="1812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u="none" dirty="0">
                <a:solidFill>
                  <a:srgbClr val="212529"/>
                </a:solidFill>
                <a:highlight>
                  <a:schemeClr val="lt1"/>
                </a:highlight>
              </a:rPr>
              <a:t>                 </a:t>
            </a:r>
            <a:r>
              <a:rPr lang="en-US" sz="2200" u="none" dirty="0" err="1">
                <a:solidFill>
                  <a:srgbClr val="212529"/>
                </a:solidFill>
                <a:highlight>
                  <a:schemeClr val="lt1"/>
                </a:highlight>
              </a:rPr>
              <a:t>SunMAP</a:t>
            </a:r>
            <a:r>
              <a:rPr lang="en-US" sz="2200" u="none" dirty="0">
                <a:solidFill>
                  <a:srgbClr val="212529"/>
                </a:solidFill>
                <a:highlight>
                  <a:schemeClr val="lt1"/>
                </a:highlight>
              </a:rPr>
              <a:t>: AI-Powered 3D Solar Planner for Every Building in Bharat</a:t>
            </a:r>
            <a:endParaRPr sz="2200" dirty="0"/>
          </a:p>
        </p:txBody>
      </p:sp>
      <p:sp>
        <p:nvSpPr>
          <p:cNvPr id="45" name="Google Shape;45;p7"/>
          <p:cNvSpPr txBox="1"/>
          <p:nvPr/>
        </p:nvSpPr>
        <p:spPr>
          <a:xfrm rot="-765">
            <a:off x="301475" y="5169025"/>
            <a:ext cx="53955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  <p:sp>
        <p:nvSpPr>
          <p:cNvPr id="46" name="Google Shape;46;p7"/>
          <p:cNvSpPr txBox="1"/>
          <p:nvPr/>
        </p:nvSpPr>
        <p:spPr>
          <a:xfrm>
            <a:off x="3123388" y="6506519"/>
            <a:ext cx="24657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821575" y="121500"/>
            <a:ext cx="11215500" cy="83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SHAMBHUNATH COLLEGE OF EDUCATION HACKATHON 2025</a:t>
            </a:r>
            <a:endParaRPr sz="2400" b="1" dirty="0">
              <a:solidFill>
                <a:schemeClr val="dk1"/>
              </a:solidFill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304525" y="1581378"/>
            <a:ext cx="6124800" cy="442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9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None/>
            </a:pPr>
            <a:endParaRPr sz="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080" lvl="0" indent="0" algn="just" rtl="0">
              <a:lnSpc>
                <a:spcPct val="1812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 Title - </a:t>
            </a:r>
            <a:r>
              <a:rPr lang="en-US" sz="2200" dirty="0" err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SunMAP</a:t>
            </a:r>
            <a:r>
              <a:rPr lang="en-US" sz="2200" dirty="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AI-Powered 3D Solar Planner for Every Building in Bharat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Theme - 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for a Safer, Smarter &amp; Inclusive Bharat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PS Category -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IronLogic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Leader Name -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Mohnish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Narayan Gupta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6148" y="1728038"/>
            <a:ext cx="5460927" cy="512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951775"/>
            <a:ext cx="8415184" cy="5908069"/>
          </a:xfrm>
          <a:custGeom>
            <a:avLst/>
            <a:gdLst/>
            <a:ahLst/>
            <a:cxnLst/>
            <a:rect l="l" t="t" r="r" b="b"/>
            <a:pathLst>
              <a:path w="8653145" h="5600065" extrusionOk="0">
                <a:moveTo>
                  <a:pt x="8652848" y="0"/>
                </a:moveTo>
                <a:lnTo>
                  <a:pt x="0" y="0"/>
                </a:lnTo>
                <a:lnTo>
                  <a:pt x="0" y="5599880"/>
                </a:lnTo>
                <a:lnTo>
                  <a:pt x="8652848" y="5599880"/>
                </a:lnTo>
                <a:lnTo>
                  <a:pt x="8652848" y="0"/>
                </a:lnTo>
                <a:close/>
              </a:path>
            </a:pathLst>
          </a:custGeom>
          <a:solidFill>
            <a:srgbClr val="EEE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6550"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3D Analysis &amp; Simulation: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Instantly models 3D building surfaces, performing hourly ray-tracing shadow simulations. 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Energy Decision: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clear, trustworthy justifications (XED) for optimal panel placement and ROI. Visualizes solar potential with actual calculated kWh and shadow maps.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"What If" Scenarios for Optimal Design: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users to simulate changing the number of panels, tilt angle, or mounting location to visualize the impact on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 Energy Generation (kWh) and Estimated Saving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&amp; Scalable Data Integration: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Ingests 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GB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CityGML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uses </a:t>
            </a:r>
            <a:r>
              <a:rPr lang="en-GB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pvlib's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internal models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 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APIs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weather or geometry.</a:t>
            </a:r>
          </a:p>
          <a:p>
            <a:pPr marL="120650" lvl="0"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Innovation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Pioneering Hybrid AI/Physics Model: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open-source, physics-based workflow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merging the 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Position Algorithm (</a:t>
            </a:r>
            <a:r>
              <a:rPr lang="en-GB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pvlib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GB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CityGML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parsing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AI or ray-tracing.</a:t>
            </a:r>
          </a:p>
          <a:p>
            <a:pPr marL="457200" lvl="0" indent="-3365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XED for Trust: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 dirty="0">
                <a:highlight>
                  <a:srgbClr val="EEECE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GB" sz="1700" b="1" dirty="0">
                <a:highlight>
                  <a:srgbClr val="EEECE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XED</a:t>
            </a:r>
            <a:r>
              <a:rPr lang="en-GB" sz="1700" dirty="0">
                <a:highlight>
                  <a:srgbClr val="EEECE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by visualizing </a:t>
            </a:r>
            <a:r>
              <a:rPr lang="en-GB" sz="1700" b="1" dirty="0">
                <a:highlight>
                  <a:srgbClr val="EEECE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concrete metrics</a:t>
            </a:r>
            <a:r>
              <a:rPr lang="en-GB" sz="1700" dirty="0">
                <a:highlight>
                  <a:srgbClr val="EEECE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(kWh/m², tilt, area) to help users </a:t>
            </a:r>
            <a:r>
              <a:rPr lang="en-GB" sz="1700" b="1" dirty="0">
                <a:highlight>
                  <a:srgbClr val="EEECE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prioritize sites</a:t>
            </a:r>
            <a:r>
              <a:rPr lang="en-GB" sz="1700" dirty="0">
                <a:highlight>
                  <a:srgbClr val="EEECE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for physical surveys.</a:t>
            </a:r>
            <a:endParaRPr sz="17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040532" y="-70744"/>
            <a:ext cx="9271634" cy="119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0" algn="just" rtl="0">
              <a:lnSpc>
                <a:spcPct val="1812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u="none" dirty="0" err="1">
                <a:solidFill>
                  <a:srgbClr val="212529"/>
                </a:solidFill>
                <a:highlight>
                  <a:schemeClr val="lt1"/>
                </a:highlight>
              </a:rPr>
              <a:t>SunMAP</a:t>
            </a:r>
            <a:r>
              <a:rPr lang="en-US" sz="2400" u="none" dirty="0">
                <a:solidFill>
                  <a:srgbClr val="212529"/>
                </a:solidFill>
                <a:highlight>
                  <a:schemeClr val="lt1"/>
                </a:highlight>
              </a:rPr>
              <a:t>: AI-Powered 3D Solar Planner for Every Building in Bharat</a:t>
            </a:r>
            <a:endParaRPr sz="2400" u="none" dirty="0"/>
          </a:p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900" dirty="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69322" y="130640"/>
            <a:ext cx="1585334" cy="788968"/>
            <a:chOff x="169322" y="130640"/>
            <a:chExt cx="1585334" cy="788968"/>
          </a:xfrm>
        </p:grpSpPr>
        <p:pic>
          <p:nvPicPr>
            <p:cNvPr id="57" name="Google Shape;57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9322" y="130640"/>
              <a:ext cx="1585334" cy="788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8"/>
            <p:cNvSpPr/>
            <p:nvPr/>
          </p:nvSpPr>
          <p:spPr>
            <a:xfrm>
              <a:off x="205881" y="167198"/>
              <a:ext cx="1458595" cy="662305"/>
            </a:xfrm>
            <a:custGeom>
              <a:avLst/>
              <a:gdLst/>
              <a:ahLst/>
              <a:cxnLst/>
              <a:rect l="l" t="t" r="r" b="b"/>
              <a:pathLst>
                <a:path w="1458595" h="662305" extrusionOk="0">
                  <a:moveTo>
                    <a:pt x="1348012" y="0"/>
                  </a:moveTo>
                  <a:lnTo>
                    <a:pt x="110320" y="0"/>
                  </a:lnTo>
                  <a:lnTo>
                    <a:pt x="67380" y="8672"/>
                  </a:lnTo>
                  <a:lnTo>
                    <a:pt x="32339" y="32301"/>
                  </a:lnTo>
                  <a:lnTo>
                    <a:pt x="8641" y="67392"/>
                  </a:lnTo>
                  <a:lnTo>
                    <a:pt x="0" y="110328"/>
                  </a:lnTo>
                  <a:lnTo>
                    <a:pt x="0" y="551642"/>
                  </a:lnTo>
                  <a:lnTo>
                    <a:pt x="8641" y="594578"/>
                  </a:lnTo>
                  <a:lnTo>
                    <a:pt x="32339" y="629668"/>
                  </a:lnTo>
                  <a:lnTo>
                    <a:pt x="67380" y="653298"/>
                  </a:lnTo>
                  <a:lnTo>
                    <a:pt x="110320" y="661970"/>
                  </a:lnTo>
                  <a:lnTo>
                    <a:pt x="1348012" y="661970"/>
                  </a:lnTo>
                  <a:lnTo>
                    <a:pt x="1390952" y="653298"/>
                  </a:lnTo>
                  <a:lnTo>
                    <a:pt x="1425993" y="629668"/>
                  </a:lnTo>
                  <a:lnTo>
                    <a:pt x="1449691" y="594578"/>
                  </a:lnTo>
                  <a:lnTo>
                    <a:pt x="1458332" y="551642"/>
                  </a:lnTo>
                  <a:lnTo>
                    <a:pt x="1458332" y="110328"/>
                  </a:lnTo>
                  <a:lnTo>
                    <a:pt x="1449691" y="67392"/>
                  </a:lnTo>
                  <a:lnTo>
                    <a:pt x="1425993" y="32301"/>
                  </a:lnTo>
                  <a:lnTo>
                    <a:pt x="1390952" y="8672"/>
                  </a:lnTo>
                  <a:lnTo>
                    <a:pt x="1348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205882" y="167198"/>
              <a:ext cx="1458595" cy="662305"/>
            </a:xfrm>
            <a:custGeom>
              <a:avLst/>
              <a:gdLst/>
              <a:ahLst/>
              <a:cxnLst/>
              <a:rect l="l" t="t" r="r" b="b"/>
              <a:pathLst>
                <a:path w="1458595" h="662305" extrusionOk="0">
                  <a:moveTo>
                    <a:pt x="0" y="110328"/>
                  </a:moveTo>
                  <a:lnTo>
                    <a:pt x="8641" y="67392"/>
                  </a:lnTo>
                  <a:lnTo>
                    <a:pt x="32339" y="32301"/>
                  </a:lnTo>
                  <a:lnTo>
                    <a:pt x="67380" y="8673"/>
                  </a:lnTo>
                  <a:lnTo>
                    <a:pt x="110320" y="0"/>
                  </a:lnTo>
                  <a:lnTo>
                    <a:pt x="1348012" y="0"/>
                  </a:lnTo>
                  <a:lnTo>
                    <a:pt x="1390952" y="8673"/>
                  </a:lnTo>
                  <a:lnTo>
                    <a:pt x="1425992" y="32301"/>
                  </a:lnTo>
                  <a:lnTo>
                    <a:pt x="1449691" y="67392"/>
                  </a:lnTo>
                  <a:lnTo>
                    <a:pt x="1458332" y="110328"/>
                  </a:lnTo>
                  <a:lnTo>
                    <a:pt x="1458332" y="551641"/>
                  </a:lnTo>
                  <a:lnTo>
                    <a:pt x="1449691" y="594577"/>
                  </a:lnTo>
                  <a:lnTo>
                    <a:pt x="1425992" y="629668"/>
                  </a:lnTo>
                  <a:lnTo>
                    <a:pt x="1390952" y="653296"/>
                  </a:lnTo>
                  <a:lnTo>
                    <a:pt x="1348012" y="661969"/>
                  </a:lnTo>
                  <a:lnTo>
                    <a:pt x="110320" y="661969"/>
                  </a:lnTo>
                  <a:lnTo>
                    <a:pt x="67380" y="653296"/>
                  </a:lnTo>
                  <a:lnTo>
                    <a:pt x="32339" y="629668"/>
                  </a:lnTo>
                  <a:lnTo>
                    <a:pt x="8641" y="594577"/>
                  </a:lnTo>
                  <a:lnTo>
                    <a:pt x="0" y="551641"/>
                  </a:lnTo>
                  <a:lnTo>
                    <a:pt x="0" y="110328"/>
                  </a:lnTo>
                  <a:close/>
                </a:path>
              </a:pathLst>
            </a:custGeom>
            <a:noFill/>
            <a:ln w="25400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8"/>
          <p:cNvSpPr txBox="1"/>
          <p:nvPr/>
        </p:nvSpPr>
        <p:spPr>
          <a:xfrm>
            <a:off x="380450" y="291125"/>
            <a:ext cx="1315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IronLogic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5175" y="938575"/>
            <a:ext cx="3776824" cy="295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8"/>
          <p:cNvPicPr preferRelativeResize="0"/>
          <p:nvPr/>
        </p:nvPicPr>
        <p:blipFill rotWithShape="1">
          <a:blip r:embed="rId5">
            <a:alphaModFix/>
          </a:blip>
          <a:srcRect l="6762" t="19611" r="7635" b="23111"/>
          <a:stretch/>
        </p:blipFill>
        <p:spPr>
          <a:xfrm>
            <a:off x="8415175" y="3817375"/>
            <a:ext cx="3776824" cy="304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3371200" y="155150"/>
            <a:ext cx="5852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TECHNICAL APPROACH</a:t>
            </a:r>
            <a:endParaRPr dirty="0"/>
          </a:p>
        </p:txBody>
      </p:sp>
      <p:grpSp>
        <p:nvGrpSpPr>
          <p:cNvPr id="68" name="Google Shape;68;p9"/>
          <p:cNvGrpSpPr/>
          <p:nvPr/>
        </p:nvGrpSpPr>
        <p:grpSpPr>
          <a:xfrm>
            <a:off x="237702" y="140137"/>
            <a:ext cx="1562091" cy="754924"/>
            <a:chOff x="219552" y="119162"/>
            <a:chExt cx="1694610" cy="824153"/>
          </a:xfrm>
        </p:grpSpPr>
        <p:pic>
          <p:nvPicPr>
            <p:cNvPr id="69" name="Google Shape;69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9552" y="119162"/>
              <a:ext cx="1694610" cy="8241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9"/>
            <p:cNvSpPr/>
            <p:nvPr/>
          </p:nvSpPr>
          <p:spPr>
            <a:xfrm>
              <a:off x="256110" y="155723"/>
              <a:ext cx="1567814" cy="697230"/>
            </a:xfrm>
            <a:custGeom>
              <a:avLst/>
              <a:gdLst/>
              <a:ahLst/>
              <a:cxnLst/>
              <a:rect l="l" t="t" r="r" b="b"/>
              <a:pathLst>
                <a:path w="1567814" h="697230" extrusionOk="0">
                  <a:moveTo>
                    <a:pt x="1451421" y="0"/>
                  </a:moveTo>
                  <a:lnTo>
                    <a:pt x="116192" y="0"/>
                  </a:lnTo>
                  <a:lnTo>
                    <a:pt x="70978" y="9133"/>
                  </a:lnTo>
                  <a:lnTo>
                    <a:pt x="34037" y="34018"/>
                  </a:lnTo>
                  <a:lnTo>
                    <a:pt x="9144" y="70973"/>
                  </a:lnTo>
                  <a:lnTo>
                    <a:pt x="0" y="116191"/>
                  </a:lnTo>
                  <a:lnTo>
                    <a:pt x="0" y="580958"/>
                  </a:lnTo>
                  <a:lnTo>
                    <a:pt x="9144" y="626177"/>
                  </a:lnTo>
                  <a:lnTo>
                    <a:pt x="34037" y="663133"/>
                  </a:lnTo>
                  <a:lnTo>
                    <a:pt x="70978" y="688017"/>
                  </a:lnTo>
                  <a:lnTo>
                    <a:pt x="116192" y="697151"/>
                  </a:lnTo>
                  <a:lnTo>
                    <a:pt x="1451421" y="697151"/>
                  </a:lnTo>
                  <a:lnTo>
                    <a:pt x="1496634" y="688017"/>
                  </a:lnTo>
                  <a:lnTo>
                    <a:pt x="1533575" y="663133"/>
                  </a:lnTo>
                  <a:lnTo>
                    <a:pt x="1558468" y="626177"/>
                  </a:lnTo>
                  <a:lnTo>
                    <a:pt x="1567612" y="580958"/>
                  </a:lnTo>
                  <a:lnTo>
                    <a:pt x="1567612" y="116191"/>
                  </a:lnTo>
                  <a:lnTo>
                    <a:pt x="1558468" y="70973"/>
                  </a:lnTo>
                  <a:lnTo>
                    <a:pt x="1533575" y="34018"/>
                  </a:lnTo>
                  <a:lnTo>
                    <a:pt x="1496634" y="9133"/>
                  </a:lnTo>
                  <a:lnTo>
                    <a:pt x="1451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256110" y="155723"/>
              <a:ext cx="1567814" cy="697230"/>
            </a:xfrm>
            <a:custGeom>
              <a:avLst/>
              <a:gdLst/>
              <a:ahLst/>
              <a:cxnLst/>
              <a:rect l="l" t="t" r="r" b="b"/>
              <a:pathLst>
                <a:path w="1567814" h="697230" extrusionOk="0">
                  <a:moveTo>
                    <a:pt x="116192" y="0"/>
                  </a:moveTo>
                  <a:lnTo>
                    <a:pt x="1451420" y="0"/>
                  </a:lnTo>
                  <a:lnTo>
                    <a:pt x="1496635" y="9133"/>
                  </a:lnTo>
                  <a:lnTo>
                    <a:pt x="1533575" y="34018"/>
                  </a:lnTo>
                  <a:lnTo>
                    <a:pt x="1558469" y="70973"/>
                  </a:lnTo>
                  <a:lnTo>
                    <a:pt x="1567613" y="116191"/>
                  </a:lnTo>
                  <a:lnTo>
                    <a:pt x="1567613" y="580959"/>
                  </a:lnTo>
                  <a:lnTo>
                    <a:pt x="1558469" y="626177"/>
                  </a:lnTo>
                  <a:lnTo>
                    <a:pt x="1533575" y="663133"/>
                  </a:lnTo>
                  <a:lnTo>
                    <a:pt x="1496635" y="688017"/>
                  </a:lnTo>
                  <a:lnTo>
                    <a:pt x="1451420" y="697151"/>
                  </a:lnTo>
                  <a:lnTo>
                    <a:pt x="116192" y="697151"/>
                  </a:lnTo>
                  <a:lnTo>
                    <a:pt x="70978" y="688017"/>
                  </a:lnTo>
                  <a:lnTo>
                    <a:pt x="34037" y="663133"/>
                  </a:lnTo>
                  <a:lnTo>
                    <a:pt x="9144" y="626177"/>
                  </a:lnTo>
                  <a:lnTo>
                    <a:pt x="0" y="580959"/>
                  </a:lnTo>
                  <a:lnTo>
                    <a:pt x="0" y="116191"/>
                  </a:lnTo>
                  <a:lnTo>
                    <a:pt x="9144" y="70973"/>
                  </a:lnTo>
                  <a:lnTo>
                    <a:pt x="34037" y="34018"/>
                  </a:lnTo>
                  <a:lnTo>
                    <a:pt x="70978" y="9133"/>
                  </a:lnTo>
                  <a:lnTo>
                    <a:pt x="116192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8064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9"/>
          <p:cNvSpPr txBox="1"/>
          <p:nvPr/>
        </p:nvSpPr>
        <p:spPr>
          <a:xfrm>
            <a:off x="428050" y="310035"/>
            <a:ext cx="1333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IronLogic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78816" y="3136593"/>
            <a:ext cx="5749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198675" y="895050"/>
            <a:ext cx="5277163" cy="602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0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 &amp; frameworks :-</a:t>
            </a:r>
            <a:endParaRPr sz="19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4925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(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Pandas,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pvlib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lxml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49250">
              <a:lnSpc>
                <a:spcPct val="150000"/>
              </a:lnSpc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http.server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en-US" sz="1900" dirty="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</a:rPr>
              <a:t>Three.js</a:t>
            </a: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Vanilla JavaScript</a:t>
            </a: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:-</a:t>
            </a:r>
          </a:p>
          <a:p>
            <a:pPr marL="457200" lvl="1" indent="-3365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Data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high-quality </a:t>
            </a:r>
            <a:r>
              <a:rPr lang="en-GB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file)</a:t>
            </a:r>
          </a:p>
          <a:p>
            <a:pPr marL="457200" lvl="1" indent="-3365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Validation-Grade Input</a:t>
            </a:r>
          </a:p>
          <a:p>
            <a:pPr marL="457200" lvl="1" indent="-3365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3D City Engine</a:t>
            </a:r>
            <a:endParaRPr lang="en-US" sz="17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5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Others :-</a:t>
            </a:r>
            <a:endParaRPr lang="en-US"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Database: </a:t>
            </a:r>
            <a:r>
              <a:rPr lang="en-GB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file system (Customized)</a:t>
            </a: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DevOps: Netlify ,GitHub Actions (CI/CD).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5" name="Google Shape;75;p9"/>
          <p:cNvGrpSpPr/>
          <p:nvPr/>
        </p:nvGrpSpPr>
        <p:grpSpPr>
          <a:xfrm>
            <a:off x="5475847" y="1146289"/>
            <a:ext cx="152402" cy="5677961"/>
            <a:chOff x="6219765" y="1031874"/>
            <a:chExt cx="152402" cy="5677961"/>
          </a:xfrm>
        </p:grpSpPr>
        <p:pic>
          <p:nvPicPr>
            <p:cNvPr id="76" name="Google Shape;76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19765" y="1031874"/>
              <a:ext cx="152402" cy="5677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9"/>
            <p:cNvSpPr/>
            <p:nvPr/>
          </p:nvSpPr>
          <p:spPr>
            <a:xfrm>
              <a:off x="6295964" y="1095374"/>
              <a:ext cx="0" cy="5551170"/>
            </a:xfrm>
            <a:custGeom>
              <a:avLst/>
              <a:gdLst/>
              <a:ahLst/>
              <a:cxnLst/>
              <a:rect l="l" t="t" r="r" b="b"/>
              <a:pathLst>
                <a:path w="120000" h="5551170" extrusionOk="0">
                  <a:moveTo>
                    <a:pt x="0" y="5550960"/>
                  </a:moveTo>
                  <a:lnTo>
                    <a:pt x="0" y="0"/>
                  </a:lnTo>
                </a:path>
              </a:pathLst>
            </a:custGeom>
            <a:noFill/>
            <a:ln w="25400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9"/>
          <p:cNvSpPr txBox="1"/>
          <p:nvPr/>
        </p:nvSpPr>
        <p:spPr>
          <a:xfrm>
            <a:off x="5828025" y="895050"/>
            <a:ext cx="6363900" cy="5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Methodology:-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8245" y="1408650"/>
            <a:ext cx="6383481" cy="509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2134806" y="82610"/>
            <a:ext cx="7294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629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FEASIBILITY AND VIABILITY</a:t>
            </a:r>
            <a:endParaRPr/>
          </a:p>
        </p:txBody>
      </p:sp>
      <p:grpSp>
        <p:nvGrpSpPr>
          <p:cNvPr id="85" name="Google Shape;85;p10"/>
          <p:cNvGrpSpPr/>
          <p:nvPr/>
        </p:nvGrpSpPr>
        <p:grpSpPr>
          <a:xfrm>
            <a:off x="155150" y="151173"/>
            <a:ext cx="1599525" cy="805792"/>
            <a:chOff x="155155" y="151187"/>
            <a:chExt cx="1713287" cy="843496"/>
          </a:xfrm>
        </p:grpSpPr>
        <p:pic>
          <p:nvPicPr>
            <p:cNvPr id="86" name="Google Shape;86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5155" y="151187"/>
              <a:ext cx="1713287" cy="843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0"/>
            <p:cNvSpPr/>
            <p:nvPr/>
          </p:nvSpPr>
          <p:spPr>
            <a:xfrm>
              <a:off x="191713" y="187746"/>
              <a:ext cx="1586865" cy="716915"/>
            </a:xfrm>
            <a:custGeom>
              <a:avLst/>
              <a:gdLst/>
              <a:ahLst/>
              <a:cxnLst/>
              <a:rect l="l" t="t" r="r" b="b"/>
              <a:pathLst>
                <a:path w="1586864" h="716915" extrusionOk="0">
                  <a:moveTo>
                    <a:pt x="1466876" y="0"/>
                  </a:moveTo>
                  <a:lnTo>
                    <a:pt x="119412" y="0"/>
                  </a:lnTo>
                  <a:lnTo>
                    <a:pt x="72925" y="9386"/>
                  </a:lnTo>
                  <a:lnTo>
                    <a:pt x="34957" y="34961"/>
                  </a:lnTo>
                  <a:lnTo>
                    <a:pt x="9400" y="72942"/>
                  </a:lnTo>
                  <a:lnTo>
                    <a:pt x="0" y="119415"/>
                  </a:lnTo>
                  <a:lnTo>
                    <a:pt x="0" y="597079"/>
                  </a:lnTo>
                  <a:lnTo>
                    <a:pt x="9400" y="643552"/>
                  </a:lnTo>
                  <a:lnTo>
                    <a:pt x="34957" y="681532"/>
                  </a:lnTo>
                  <a:lnTo>
                    <a:pt x="72925" y="707108"/>
                  </a:lnTo>
                  <a:lnTo>
                    <a:pt x="119412" y="716494"/>
                  </a:lnTo>
                  <a:lnTo>
                    <a:pt x="1466876" y="716494"/>
                  </a:lnTo>
                  <a:lnTo>
                    <a:pt x="1513363" y="707108"/>
                  </a:lnTo>
                  <a:lnTo>
                    <a:pt x="1551331" y="681532"/>
                  </a:lnTo>
                  <a:lnTo>
                    <a:pt x="1576889" y="643552"/>
                  </a:lnTo>
                  <a:lnTo>
                    <a:pt x="1586288" y="597079"/>
                  </a:lnTo>
                  <a:lnTo>
                    <a:pt x="1586288" y="119415"/>
                  </a:lnTo>
                  <a:lnTo>
                    <a:pt x="1576889" y="72942"/>
                  </a:lnTo>
                  <a:lnTo>
                    <a:pt x="1551331" y="34961"/>
                  </a:lnTo>
                  <a:lnTo>
                    <a:pt x="1513363" y="9386"/>
                  </a:lnTo>
                  <a:lnTo>
                    <a:pt x="14668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191713" y="187745"/>
              <a:ext cx="1586865" cy="716915"/>
            </a:xfrm>
            <a:custGeom>
              <a:avLst/>
              <a:gdLst/>
              <a:ahLst/>
              <a:cxnLst/>
              <a:rect l="l" t="t" r="r" b="b"/>
              <a:pathLst>
                <a:path w="1586864" h="716915" extrusionOk="0">
                  <a:moveTo>
                    <a:pt x="119412" y="0"/>
                  </a:moveTo>
                  <a:lnTo>
                    <a:pt x="1466877" y="0"/>
                  </a:lnTo>
                  <a:lnTo>
                    <a:pt x="1513365" y="9387"/>
                  </a:lnTo>
                  <a:lnTo>
                    <a:pt x="1551332" y="34962"/>
                  </a:lnTo>
                  <a:lnTo>
                    <a:pt x="1576889" y="72943"/>
                  </a:lnTo>
                  <a:lnTo>
                    <a:pt x="1586289" y="119415"/>
                  </a:lnTo>
                  <a:lnTo>
                    <a:pt x="1586289" y="597079"/>
                  </a:lnTo>
                  <a:lnTo>
                    <a:pt x="1576889" y="643552"/>
                  </a:lnTo>
                  <a:lnTo>
                    <a:pt x="1551332" y="681533"/>
                  </a:lnTo>
                  <a:lnTo>
                    <a:pt x="1513365" y="707108"/>
                  </a:lnTo>
                  <a:lnTo>
                    <a:pt x="1466877" y="716495"/>
                  </a:lnTo>
                  <a:lnTo>
                    <a:pt x="119412" y="716495"/>
                  </a:lnTo>
                  <a:lnTo>
                    <a:pt x="72925" y="707108"/>
                  </a:lnTo>
                  <a:lnTo>
                    <a:pt x="34957" y="681533"/>
                  </a:lnTo>
                  <a:lnTo>
                    <a:pt x="9400" y="643552"/>
                  </a:lnTo>
                  <a:lnTo>
                    <a:pt x="0" y="597079"/>
                  </a:lnTo>
                  <a:lnTo>
                    <a:pt x="0" y="119415"/>
                  </a:lnTo>
                  <a:lnTo>
                    <a:pt x="9400" y="72943"/>
                  </a:lnTo>
                  <a:lnTo>
                    <a:pt x="34957" y="34962"/>
                  </a:lnTo>
                  <a:lnTo>
                    <a:pt x="72925" y="9387"/>
                  </a:lnTo>
                  <a:lnTo>
                    <a:pt x="119412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8064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89" name="Google Shape;89;p10"/>
          <p:cNvSpPr txBox="1"/>
          <p:nvPr/>
        </p:nvSpPr>
        <p:spPr>
          <a:xfrm>
            <a:off x="335113" y="325175"/>
            <a:ext cx="1392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IronLogic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0"/>
          <p:cNvGrpSpPr/>
          <p:nvPr/>
        </p:nvGrpSpPr>
        <p:grpSpPr>
          <a:xfrm>
            <a:off x="315062" y="1093628"/>
            <a:ext cx="3707341" cy="1294928"/>
            <a:chOff x="749616" y="1093602"/>
            <a:chExt cx="3469669" cy="977083"/>
          </a:xfrm>
        </p:grpSpPr>
        <p:pic>
          <p:nvPicPr>
            <p:cNvPr id="91" name="Google Shape;91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49616" y="1093602"/>
              <a:ext cx="3469669" cy="977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478" y="1116463"/>
              <a:ext cx="3383946" cy="8913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0"/>
          <p:cNvSpPr txBox="1"/>
          <p:nvPr/>
        </p:nvSpPr>
        <p:spPr>
          <a:xfrm>
            <a:off x="355800" y="1124850"/>
            <a:ext cx="3748200" cy="112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4610" lvl="0" indent="0" algn="l" rtl="0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 dirty="0"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lvl="0" indent="-264160">
              <a:lnSpc>
                <a:spcPct val="116666"/>
              </a:lnSpc>
              <a:buSzPts val="1500"/>
              <a:buFont typeface="Times New Roman"/>
              <a:buChar char="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Industry-Standard Solar Library</a:t>
            </a:r>
          </a:p>
          <a:p>
            <a:pPr marL="337820" lvl="0" indent="-264160">
              <a:lnSpc>
                <a:spcPct val="116666"/>
              </a:lnSpc>
              <a:buSzPts val="1500"/>
              <a:buFont typeface="Times New Roman"/>
              <a:buChar char="➢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API for Installers/Financing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lvl="0" indent="-264160">
              <a:lnSpc>
                <a:spcPct val="118333"/>
              </a:lnSpc>
              <a:buClr>
                <a:schemeClr val="dk1"/>
              </a:buClr>
              <a:buSzPts val="1500"/>
              <a:buFont typeface="Times New Roman"/>
              <a:buChar char="➢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Input Format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94" name="Google Shape;94;p10"/>
          <p:cNvGrpSpPr/>
          <p:nvPr/>
        </p:nvGrpSpPr>
        <p:grpSpPr>
          <a:xfrm>
            <a:off x="315062" y="2512982"/>
            <a:ext cx="11516014" cy="4381769"/>
            <a:chOff x="749615" y="2694935"/>
            <a:chExt cx="10652127" cy="3692527"/>
          </a:xfrm>
        </p:grpSpPr>
        <p:pic>
          <p:nvPicPr>
            <p:cNvPr id="95" name="Google Shape;95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615" y="2694935"/>
              <a:ext cx="10652127" cy="36925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92476" y="2717797"/>
              <a:ext cx="10566405" cy="36068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0"/>
            <p:cNvSpPr/>
            <p:nvPr/>
          </p:nvSpPr>
          <p:spPr>
            <a:xfrm>
              <a:off x="792477" y="2717797"/>
              <a:ext cx="10566400" cy="3606800"/>
            </a:xfrm>
            <a:custGeom>
              <a:avLst/>
              <a:gdLst/>
              <a:ahLst/>
              <a:cxnLst/>
              <a:rect l="l" t="t" r="r" b="b"/>
              <a:pathLst>
                <a:path w="10566400" h="3606800" extrusionOk="0">
                  <a:moveTo>
                    <a:pt x="0" y="0"/>
                  </a:moveTo>
                  <a:lnTo>
                    <a:pt x="10566403" y="0"/>
                  </a:lnTo>
                  <a:lnTo>
                    <a:pt x="10566403" y="3606802"/>
                  </a:lnTo>
                  <a:lnTo>
                    <a:pt x="0" y="36068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6AA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10"/>
          <p:cNvSpPr txBox="1">
            <a:spLocks noGrp="1"/>
          </p:cNvSpPr>
          <p:nvPr>
            <p:ph type="body" idx="1"/>
          </p:nvPr>
        </p:nvSpPr>
        <p:spPr>
          <a:xfrm>
            <a:off x="515650" y="2633200"/>
            <a:ext cx="11261100" cy="4261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3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Challenges &amp; Risks</a:t>
            </a:r>
            <a:endParaRPr sz="1700" dirty="0"/>
          </a:p>
          <a:p>
            <a:pPr marL="294640" lvl="0" indent="-275590" algn="l" rtl="0">
              <a:lnSpc>
                <a:spcPct val="118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attrocento Sans"/>
              <a:buChar char="❑"/>
            </a:pPr>
            <a:r>
              <a:rPr lang="en-US" sz="1700" u="none" dirty="0"/>
              <a:t>Data Heterogeneity</a:t>
            </a:r>
            <a:r>
              <a:rPr lang="en-US" sz="1700" b="0" u="none" dirty="0"/>
              <a:t>: Ensuring seamless, high-resolution DEM and footprint data across diverse urban/rural geographies.</a:t>
            </a:r>
            <a:endParaRPr sz="1700" dirty="0"/>
          </a:p>
          <a:p>
            <a:pPr marL="294640" lvl="0" indent="-27559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attrocento Sans"/>
              <a:buChar char="❑"/>
            </a:pPr>
            <a:r>
              <a:rPr lang="en-US" sz="1700" u="none" dirty="0"/>
              <a:t>Solar Angle Precision</a:t>
            </a:r>
            <a:r>
              <a:rPr lang="en-US" sz="1700" b="0" u="none" dirty="0"/>
              <a:t>: Accurately modeling shadow and incidence angles for highly irregular rooftops and walls.</a:t>
            </a:r>
            <a:endParaRPr sz="1700" dirty="0"/>
          </a:p>
          <a:p>
            <a:pPr marL="294640" lvl="0" indent="-27559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attrocento Sans"/>
              <a:buChar char="❑"/>
            </a:pPr>
            <a:r>
              <a:rPr lang="en-US" sz="1700" u="none" dirty="0"/>
              <a:t>Adoption Barrier</a:t>
            </a:r>
            <a:r>
              <a:rPr lang="en-US" sz="1700" b="0" u="none" dirty="0"/>
              <a:t>: Overcoming public and installer skepticism regarding a free, instant, AI-generated site assessment over a traditional physical survey.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4640" lvl="0" indent="-275590" algn="l" rtl="0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attrocento Sans"/>
              <a:buChar char="❑"/>
            </a:pPr>
            <a:r>
              <a:rPr lang="en-US" sz="1700" u="none" dirty="0"/>
              <a:t>Model Calibration</a:t>
            </a:r>
            <a:r>
              <a:rPr lang="en-US" sz="1700" b="0" u="none" dirty="0"/>
              <a:t>: Accurately correlating AI-predicted GHI values with ground-truth energy generation.</a:t>
            </a:r>
            <a:endParaRPr sz="1700" b="0" u="none" dirty="0"/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Strategies to Overcome</a:t>
            </a:r>
            <a:endParaRPr lang="en-US" sz="1700" u="none" dirty="0">
              <a:solidFill>
                <a:srgbClr val="1B1C1D"/>
              </a:solidFill>
            </a:endParaRPr>
          </a:p>
          <a:p>
            <a:pPr lvl="0" indent="-336550">
              <a:lnSpc>
                <a:spcPct val="115000"/>
              </a:lnSpc>
              <a:spcBef>
                <a:spcPts val="1000"/>
              </a:spcBef>
              <a:buClr>
                <a:srgbClr val="1B1C1D"/>
              </a:buClr>
              <a:buSzPts val="1700"/>
              <a:buChar char="❏"/>
            </a:pPr>
            <a:r>
              <a:rPr lang="en-US" sz="1700" u="none" dirty="0">
                <a:solidFill>
                  <a:srgbClr val="1B1C1D"/>
                </a:solidFill>
              </a:rPr>
              <a:t>Physics-First Accuracy</a:t>
            </a:r>
            <a:r>
              <a:rPr lang="en-US" sz="1700" b="0" u="none" dirty="0">
                <a:solidFill>
                  <a:srgbClr val="1B1C1D"/>
                </a:solidFill>
              </a:rPr>
              <a:t>: Use a robust physics engine with SPA and Ray-Tracing for precise, trustworthy shadow modeling.</a:t>
            </a:r>
          </a:p>
          <a:p>
            <a:pPr lvl="0" indent="-336550">
              <a:lnSpc>
                <a:spcPct val="115000"/>
              </a:lnSpc>
              <a:spcBef>
                <a:spcPts val="1000"/>
              </a:spcBef>
              <a:buClr>
                <a:srgbClr val="1B1C1D"/>
              </a:buClr>
              <a:buSzPts val="1700"/>
              <a:buChar char="❏"/>
            </a:pPr>
            <a:r>
              <a:rPr lang="en-US" sz="1700" u="none" dirty="0">
                <a:solidFill>
                  <a:srgbClr val="1B1C1D"/>
                </a:solidFill>
              </a:rPr>
              <a:t>Phased Rollout: </a:t>
            </a:r>
            <a:r>
              <a:rPr lang="en-US" sz="1700" b="0" u="none" dirty="0">
                <a:solidFill>
                  <a:srgbClr val="1B1C1D"/>
                </a:solidFill>
              </a:rPr>
              <a:t>Dependent on acquiring valid, high-quality </a:t>
            </a:r>
            <a:r>
              <a:rPr lang="en-US" sz="1700" b="0" u="none" dirty="0" err="1">
                <a:solidFill>
                  <a:srgbClr val="1B1C1D"/>
                </a:solidFill>
              </a:rPr>
              <a:t>CityGML</a:t>
            </a:r>
            <a:r>
              <a:rPr lang="en-US" sz="1700" b="0" u="none" dirty="0">
                <a:solidFill>
                  <a:srgbClr val="1B1C1D"/>
                </a:solidFill>
              </a:rPr>
              <a:t> data in a target area, as tool processes </a:t>
            </a:r>
            <a:r>
              <a:rPr lang="en-US" sz="1700" b="0" u="none" dirty="0" err="1">
                <a:solidFill>
                  <a:srgbClr val="1B1C1D"/>
                </a:solidFill>
              </a:rPr>
              <a:t>exisiting</a:t>
            </a:r>
            <a:r>
              <a:rPr lang="en-US" sz="1700" b="0" u="none" dirty="0">
                <a:solidFill>
                  <a:srgbClr val="1B1C1D"/>
                </a:solidFill>
              </a:rPr>
              <a:t> data.</a:t>
            </a:r>
            <a:endParaRPr sz="1700" b="0" u="none" dirty="0">
              <a:solidFill>
                <a:srgbClr val="1B1C1D"/>
              </a:solidFill>
            </a:endParaRPr>
          </a:p>
          <a:p>
            <a:pPr lvl="0" indent="-336550">
              <a:lnSpc>
                <a:spcPct val="115000"/>
              </a:lnSpc>
              <a:buClr>
                <a:srgbClr val="1B1C1D"/>
              </a:buClr>
              <a:buSzPts val="1700"/>
              <a:buChar char="❏"/>
            </a:pPr>
            <a:r>
              <a:rPr lang="en-US" sz="1700" u="none" dirty="0">
                <a:solidFill>
                  <a:srgbClr val="1B1C1D"/>
                </a:solidFill>
              </a:rPr>
              <a:t>Trust Through Transparency</a:t>
            </a:r>
            <a:r>
              <a:rPr lang="en-US" sz="1700" b="0" u="none" dirty="0">
                <a:solidFill>
                  <a:srgbClr val="1B1C1D"/>
                </a:solidFill>
              </a:rPr>
              <a:t>: </a:t>
            </a:r>
            <a:r>
              <a:rPr lang="en-GB" sz="1700" b="0" u="none" dirty="0"/>
              <a:t>Builds confidence by transparently visualizing physics-based results (kWh/m²) in the frontend, helping users prioritize which sites require a physical survey.</a:t>
            </a:r>
            <a:endParaRPr lang="en-US" sz="1700" b="0" u="none" dirty="0">
              <a:solidFill>
                <a:srgbClr val="1B1C1D"/>
              </a:solidFill>
            </a:endParaRPr>
          </a:p>
          <a:p>
            <a:pPr lvl="0" indent="-336550">
              <a:lnSpc>
                <a:spcPct val="115000"/>
              </a:lnSpc>
              <a:buClr>
                <a:srgbClr val="1B1C1D"/>
              </a:buClr>
              <a:buSzPts val="1700"/>
              <a:buChar char="❏"/>
            </a:pPr>
            <a:r>
              <a:rPr lang="en-GB" sz="1700" u="none" dirty="0">
                <a:solidFill>
                  <a:srgbClr val="1B1C1D"/>
                </a:solidFill>
              </a:rPr>
              <a:t>Rapid Scaling</a:t>
            </a:r>
            <a:r>
              <a:rPr lang="en-GB" sz="1700" b="0" u="none" dirty="0">
                <a:solidFill>
                  <a:srgbClr val="1B1C1D"/>
                </a:solidFill>
              </a:rPr>
              <a:t>: </a:t>
            </a:r>
            <a:r>
              <a:rPr lang="en-GB" sz="1700" b="0" u="none" dirty="0"/>
              <a:t>Scaling is a manual process that involves acquiring a new </a:t>
            </a:r>
            <a:r>
              <a:rPr lang="en-GB" sz="1700" b="0" u="none" dirty="0" err="1"/>
              <a:t>CityGML</a:t>
            </a:r>
            <a:r>
              <a:rPr lang="en-GB" sz="1700" b="0" u="none" dirty="0"/>
              <a:t> dataset and running the local analysis</a:t>
            </a:r>
          </a:p>
          <a:p>
            <a:pPr marL="120650" lvl="0" indent="0">
              <a:lnSpc>
                <a:spcPct val="115000"/>
              </a:lnSpc>
              <a:buClr>
                <a:srgbClr val="1B1C1D"/>
              </a:buClr>
              <a:buSzPts val="1700"/>
            </a:pPr>
            <a:r>
              <a:rPr lang="en-GB" sz="1700" b="0" u="none" dirty="0"/>
              <a:t>      scripts</a:t>
            </a:r>
          </a:p>
        </p:txBody>
      </p:sp>
      <p:grpSp>
        <p:nvGrpSpPr>
          <p:cNvPr id="99" name="Google Shape;99;p10"/>
          <p:cNvGrpSpPr/>
          <p:nvPr/>
        </p:nvGrpSpPr>
        <p:grpSpPr>
          <a:xfrm>
            <a:off x="4171850" y="1093629"/>
            <a:ext cx="3598741" cy="1294928"/>
            <a:chOff x="749616" y="1093602"/>
            <a:chExt cx="3469669" cy="977083"/>
          </a:xfrm>
        </p:grpSpPr>
        <p:pic>
          <p:nvPicPr>
            <p:cNvPr id="100" name="Google Shape;100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49616" y="1093602"/>
              <a:ext cx="3469669" cy="977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478" y="1116463"/>
              <a:ext cx="3383946" cy="8913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0"/>
          <p:cNvSpPr txBox="1"/>
          <p:nvPr/>
        </p:nvSpPr>
        <p:spPr>
          <a:xfrm>
            <a:off x="4103925" y="1037175"/>
            <a:ext cx="4094100" cy="12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4610" lvl="0" indent="0" algn="l" rtl="0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feasibility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marR="330835" lvl="0" indent="-264160" algn="l" rtl="0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➢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Quantifiable ROI (kWh/Payback Time)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marR="330835" lvl="0" indent="-264160" algn="l" rtl="0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➢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Phased Funding Aligned to City Rollouts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marR="330835" lvl="0" indent="-264160" algn="l" rtl="0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➢"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Hardware </a:t>
            </a:r>
            <a:r>
              <a:rPr lang="en-US" sz="15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CapEx</a:t>
            </a: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(Software Only)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" name="Google Shape;103;p10"/>
          <p:cNvGrpSpPr/>
          <p:nvPr/>
        </p:nvGrpSpPr>
        <p:grpSpPr>
          <a:xfrm>
            <a:off x="7920009" y="1093629"/>
            <a:ext cx="3911358" cy="1294928"/>
            <a:chOff x="749616" y="1093602"/>
            <a:chExt cx="3469669" cy="977083"/>
          </a:xfrm>
        </p:grpSpPr>
        <p:pic>
          <p:nvPicPr>
            <p:cNvPr id="104" name="Google Shape;104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49616" y="1093602"/>
              <a:ext cx="3469669" cy="977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478" y="1116463"/>
              <a:ext cx="3383946" cy="8913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 txBox="1"/>
          <p:nvPr/>
        </p:nvSpPr>
        <p:spPr>
          <a:xfrm>
            <a:off x="7920000" y="1037175"/>
            <a:ext cx="4272000" cy="12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4610" lvl="0" indent="0" algn="l" rtl="0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marR="389890" lvl="0" indent="-264160" algn="l" rtl="0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➢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Policy-Centric DSS (XED)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marR="389890" lvl="0" indent="-264160" algn="l" rtl="0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➢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NIWE/DISCOM Utility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7820" marR="389890" lvl="0" indent="-264160" algn="l" rtl="0">
              <a:lnSpc>
                <a:spcPct val="116666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➢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 and Validation (GHI/Field checks)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>
            <a:spLocks noGrp="1"/>
          </p:cNvSpPr>
          <p:nvPr>
            <p:ph type="title"/>
          </p:nvPr>
        </p:nvSpPr>
        <p:spPr>
          <a:xfrm>
            <a:off x="3224925" y="222900"/>
            <a:ext cx="7202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AND BENEFITS</a:t>
            </a: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216726" y="222896"/>
            <a:ext cx="1582536" cy="788937"/>
            <a:chOff x="216713" y="222904"/>
            <a:chExt cx="1692371" cy="812416"/>
          </a:xfrm>
        </p:grpSpPr>
        <p:pic>
          <p:nvPicPr>
            <p:cNvPr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6713" y="222904"/>
              <a:ext cx="1692371" cy="812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1"/>
            <p:cNvSpPr/>
            <p:nvPr/>
          </p:nvSpPr>
          <p:spPr>
            <a:xfrm>
              <a:off x="253272" y="259463"/>
              <a:ext cx="1565910" cy="685800"/>
            </a:xfrm>
            <a:custGeom>
              <a:avLst/>
              <a:gdLst/>
              <a:ahLst/>
              <a:cxnLst/>
              <a:rect l="l" t="t" r="r" b="b"/>
              <a:pathLst>
                <a:path w="1565910" h="685800" extrusionOk="0">
                  <a:moveTo>
                    <a:pt x="1451156" y="0"/>
                  </a:moveTo>
                  <a:lnTo>
                    <a:pt x="114214" y="0"/>
                  </a:lnTo>
                  <a:lnTo>
                    <a:pt x="69789" y="8980"/>
                  </a:lnTo>
                  <a:lnTo>
                    <a:pt x="33481" y="33446"/>
                  </a:lnTo>
                  <a:lnTo>
                    <a:pt x="8986" y="69780"/>
                  </a:lnTo>
                  <a:lnTo>
                    <a:pt x="0" y="114236"/>
                  </a:lnTo>
                  <a:lnTo>
                    <a:pt x="0" y="571182"/>
                  </a:lnTo>
                  <a:lnTo>
                    <a:pt x="8986" y="615638"/>
                  </a:lnTo>
                  <a:lnTo>
                    <a:pt x="33481" y="651972"/>
                  </a:lnTo>
                  <a:lnTo>
                    <a:pt x="69789" y="676437"/>
                  </a:lnTo>
                  <a:lnTo>
                    <a:pt x="114214" y="685417"/>
                  </a:lnTo>
                  <a:lnTo>
                    <a:pt x="1451156" y="685417"/>
                  </a:lnTo>
                  <a:lnTo>
                    <a:pt x="1495581" y="676437"/>
                  </a:lnTo>
                  <a:lnTo>
                    <a:pt x="1531889" y="651972"/>
                  </a:lnTo>
                  <a:lnTo>
                    <a:pt x="1556383" y="615638"/>
                  </a:lnTo>
                  <a:lnTo>
                    <a:pt x="1565370" y="571182"/>
                  </a:lnTo>
                  <a:lnTo>
                    <a:pt x="1565370" y="114236"/>
                  </a:lnTo>
                  <a:lnTo>
                    <a:pt x="1556383" y="69780"/>
                  </a:lnTo>
                  <a:lnTo>
                    <a:pt x="1531889" y="33446"/>
                  </a:lnTo>
                  <a:lnTo>
                    <a:pt x="1495581" y="8980"/>
                  </a:lnTo>
                  <a:lnTo>
                    <a:pt x="1451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9"/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253275" y="259477"/>
              <a:ext cx="1565910" cy="685800"/>
            </a:xfrm>
            <a:custGeom>
              <a:avLst/>
              <a:gdLst/>
              <a:ahLst/>
              <a:cxnLst/>
              <a:rect l="l" t="t" r="r" b="b"/>
              <a:pathLst>
                <a:path w="1565910" h="685800" extrusionOk="0">
                  <a:moveTo>
                    <a:pt x="114214" y="0"/>
                  </a:moveTo>
                  <a:lnTo>
                    <a:pt x="1451156" y="0"/>
                  </a:lnTo>
                  <a:lnTo>
                    <a:pt x="1495581" y="8980"/>
                  </a:lnTo>
                  <a:lnTo>
                    <a:pt x="1531889" y="33445"/>
                  </a:lnTo>
                  <a:lnTo>
                    <a:pt x="1556385" y="69779"/>
                  </a:lnTo>
                  <a:lnTo>
                    <a:pt x="1565370" y="114236"/>
                  </a:lnTo>
                  <a:lnTo>
                    <a:pt x="1565370" y="571181"/>
                  </a:lnTo>
                  <a:lnTo>
                    <a:pt x="1556385" y="615638"/>
                  </a:lnTo>
                  <a:lnTo>
                    <a:pt x="1531889" y="651971"/>
                  </a:lnTo>
                  <a:lnTo>
                    <a:pt x="1495581" y="676437"/>
                  </a:lnTo>
                  <a:lnTo>
                    <a:pt x="1451156" y="685417"/>
                  </a:lnTo>
                  <a:lnTo>
                    <a:pt x="114214" y="685417"/>
                  </a:lnTo>
                  <a:lnTo>
                    <a:pt x="69789" y="676437"/>
                  </a:lnTo>
                  <a:lnTo>
                    <a:pt x="33481" y="651971"/>
                  </a:lnTo>
                  <a:lnTo>
                    <a:pt x="8986" y="615638"/>
                  </a:lnTo>
                  <a:lnTo>
                    <a:pt x="0" y="571181"/>
                  </a:lnTo>
                  <a:lnTo>
                    <a:pt x="0" y="114236"/>
                  </a:lnTo>
                  <a:lnTo>
                    <a:pt x="8986" y="69779"/>
                  </a:lnTo>
                  <a:lnTo>
                    <a:pt x="33481" y="33445"/>
                  </a:lnTo>
                  <a:lnTo>
                    <a:pt x="69789" y="8980"/>
                  </a:lnTo>
                  <a:lnTo>
                    <a:pt x="114214" y="0"/>
                  </a:lnTo>
                  <a:close/>
                </a:path>
              </a:pathLst>
            </a:custGeom>
            <a:noFill/>
            <a:ln w="23725" cap="flat" cmpd="sng">
              <a:solidFill>
                <a:srgbClr val="8064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2700" marR="5080" lvl="0" indent="12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/>
          <p:nvPr/>
        </p:nvSpPr>
        <p:spPr>
          <a:xfrm>
            <a:off x="398550" y="380813"/>
            <a:ext cx="1371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IronLogic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1642423" y="2443414"/>
            <a:ext cx="2925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1642423" y="2964114"/>
            <a:ext cx="3410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1642423" y="4780214"/>
            <a:ext cx="230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1642423" y="5300914"/>
            <a:ext cx="1582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1642423" y="5821614"/>
            <a:ext cx="2066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1129344" y="3862459"/>
            <a:ext cx="9642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460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6670425" y="1143613"/>
            <a:ext cx="43656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50" y="1011825"/>
            <a:ext cx="11657627" cy="5846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 txBox="1"/>
          <p:nvPr/>
        </p:nvSpPr>
        <p:spPr>
          <a:xfrm>
            <a:off x="351600" y="890456"/>
            <a:ext cx="11488800" cy="54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Impact:</a:t>
            </a:r>
            <a:endParaRPr sz="17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Rooftop Solar Adoption: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 an estimated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15−20% increase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residential rooftop solar installations across the top 20 cities by eliminating the cost and complexity of initial site surveys.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Decentralized Energy Security: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citizens with the confidence to become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prosumers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reducing dependence on central grid infrastructure and boosting climate resilience during peak demand or extreme weather events.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MSME Efficiency: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solar startups and installers with high-quality, pre-vetted leads, leading to a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reduction in site-visit costs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enabling faster deployment and higher profitability.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&amp; Planning: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 city-scale PV potential heatmaps instantly, empowering DISCOMs and Urban Planning bodies to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subsidies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accelerate Net-Zero transition goals.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 sz="17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savings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homeowners via reduced electricity bills and faster payback on investment (ROI). Creates new, high-quality jobs in the localized solar MSME ecosystem.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Ensures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clarity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solar viability, allowing installers to instantly qualify leads and citizens to make informed decisions without waiting for a physical assessment.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Technological Leap: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Positions India as a leader in applying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ISRO-data-driven AI/Physics models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urban sustainability planning, aligning perfectly with Atma </a:t>
            </a:r>
            <a:r>
              <a:rPr lang="en-US" sz="17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Nirbhar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Bharat.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Transfer: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 a valuable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data utility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(Open API) for solar potential, driving innovation in related finance, insurance, and installation services.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>
            <a:spLocks noGrp="1"/>
          </p:cNvSpPr>
          <p:nvPr>
            <p:ph type="title"/>
          </p:nvPr>
        </p:nvSpPr>
        <p:spPr>
          <a:xfrm>
            <a:off x="2134800" y="299250"/>
            <a:ext cx="7767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225" rIns="0" bIns="0" anchor="t" anchorCtr="0">
            <a:sp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AND REFERENCES</a:t>
            </a:r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309150" y="1016725"/>
            <a:ext cx="11573700" cy="562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Digital Twin &amp; Physics Modeling:</a:t>
            </a:r>
            <a:endParaRPr sz="1700" b="1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Solar Position Algorithm (SPA) by NREL, and established Ray-Tracing principles in Computer Graphics/GIS (</a:t>
            </a:r>
            <a:r>
              <a:rPr lang="en-US" sz="17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ThreeJS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the rigorous, physical validation needed for the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Sun-Physics Engine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(shadow modeling and angle calculation) to ensure highly precise and trustworthy kWh energy estimates.</a:t>
            </a:r>
            <a:r>
              <a:rPr lang="en-US" sz="17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u="sng" dirty="0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🔗</a:t>
            </a:r>
            <a:endParaRPr sz="1700" b="1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Advanced AI for GHI Gap-Fill:</a:t>
            </a:r>
            <a:endParaRPr sz="1700" b="1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Studies on machine learning applications (</a:t>
            </a:r>
            <a:r>
              <a:rPr lang="en-US" sz="17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XGBoost,Random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Forest) for solar irradiance forecasting and estimation using meteorological data and satellite imagery.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Validates the use of the </a:t>
            </a:r>
            <a:r>
              <a:rPr lang="en-US" sz="17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to accurately predict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Horizontal Irradiance (GHI)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specific microclimates where ground data (from NIWE/IMD) is sparse, making the tool truly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inclusive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rural and urban India.</a:t>
            </a:r>
            <a:r>
              <a:rPr lang="en-US" sz="17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u="sng" dirty="0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🔗</a:t>
            </a:r>
            <a:endParaRPr sz="1700" b="1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❖"/>
            </a:pPr>
            <a:r>
              <a:rPr lang="en-US" sz="1700" b="1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Strategic Need &amp; Data :</a:t>
            </a:r>
            <a:endParaRPr sz="1700" b="1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Geospatial Consortium (OGC)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CityGML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14400" lvl="1" indent="-3365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built to be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data-agnostic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the international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CityGML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3D city models. Its strategic value lies in its ability to process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dataset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conforms to this open standard, making the analysis compatible with global and national 3D city models. </a:t>
            </a:r>
            <a:r>
              <a:rPr lang="en-US" sz="1700" u="sng" dirty="0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🔗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1264918" y="5826170"/>
            <a:ext cx="2145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1265056" y="5690620"/>
            <a:ext cx="2145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1287599" y="6219483"/>
            <a:ext cx="2145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5" name="Google Shape;135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677" y="136062"/>
            <a:ext cx="1562091" cy="75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/>
          <p:nvPr/>
        </p:nvSpPr>
        <p:spPr>
          <a:xfrm>
            <a:off x="213576" y="194527"/>
            <a:ext cx="1446308" cy="637965"/>
          </a:xfrm>
          <a:custGeom>
            <a:avLst/>
            <a:gdLst/>
            <a:ahLst/>
            <a:cxnLst/>
            <a:rect l="l" t="t" r="r" b="b"/>
            <a:pathLst>
              <a:path w="1567814" h="697230" extrusionOk="0">
                <a:moveTo>
                  <a:pt x="1451421" y="0"/>
                </a:moveTo>
                <a:lnTo>
                  <a:pt x="116192" y="0"/>
                </a:lnTo>
                <a:lnTo>
                  <a:pt x="70978" y="9133"/>
                </a:lnTo>
                <a:lnTo>
                  <a:pt x="34037" y="34018"/>
                </a:lnTo>
                <a:lnTo>
                  <a:pt x="9144" y="70973"/>
                </a:lnTo>
                <a:lnTo>
                  <a:pt x="0" y="116191"/>
                </a:lnTo>
                <a:lnTo>
                  <a:pt x="0" y="580958"/>
                </a:lnTo>
                <a:lnTo>
                  <a:pt x="9144" y="626177"/>
                </a:lnTo>
                <a:lnTo>
                  <a:pt x="34037" y="663133"/>
                </a:lnTo>
                <a:lnTo>
                  <a:pt x="70978" y="688017"/>
                </a:lnTo>
                <a:lnTo>
                  <a:pt x="116192" y="697151"/>
                </a:lnTo>
                <a:lnTo>
                  <a:pt x="1451421" y="697151"/>
                </a:lnTo>
                <a:lnTo>
                  <a:pt x="1496634" y="688017"/>
                </a:lnTo>
                <a:lnTo>
                  <a:pt x="1533575" y="663133"/>
                </a:lnTo>
                <a:lnTo>
                  <a:pt x="1558468" y="626177"/>
                </a:lnTo>
                <a:lnTo>
                  <a:pt x="1567612" y="580958"/>
                </a:lnTo>
                <a:lnTo>
                  <a:pt x="1567612" y="116191"/>
                </a:lnTo>
                <a:lnTo>
                  <a:pt x="1558468" y="70973"/>
                </a:lnTo>
                <a:lnTo>
                  <a:pt x="1533575" y="34018"/>
                </a:lnTo>
                <a:lnTo>
                  <a:pt x="1496634" y="9133"/>
                </a:lnTo>
                <a:lnTo>
                  <a:pt x="14514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213576" y="194527"/>
            <a:ext cx="1446308" cy="637965"/>
          </a:xfrm>
          <a:custGeom>
            <a:avLst/>
            <a:gdLst/>
            <a:ahLst/>
            <a:cxnLst/>
            <a:rect l="l" t="t" r="r" b="b"/>
            <a:pathLst>
              <a:path w="1567814" h="697230" extrusionOk="0">
                <a:moveTo>
                  <a:pt x="116192" y="0"/>
                </a:moveTo>
                <a:lnTo>
                  <a:pt x="1451420" y="0"/>
                </a:lnTo>
                <a:lnTo>
                  <a:pt x="1496635" y="9133"/>
                </a:lnTo>
                <a:lnTo>
                  <a:pt x="1533575" y="34018"/>
                </a:lnTo>
                <a:lnTo>
                  <a:pt x="1558469" y="70973"/>
                </a:lnTo>
                <a:lnTo>
                  <a:pt x="1567613" y="116191"/>
                </a:lnTo>
                <a:lnTo>
                  <a:pt x="1567613" y="580959"/>
                </a:lnTo>
                <a:lnTo>
                  <a:pt x="1558469" y="626177"/>
                </a:lnTo>
                <a:lnTo>
                  <a:pt x="1533575" y="663133"/>
                </a:lnTo>
                <a:lnTo>
                  <a:pt x="1496635" y="688017"/>
                </a:lnTo>
                <a:lnTo>
                  <a:pt x="1451420" y="697151"/>
                </a:lnTo>
                <a:lnTo>
                  <a:pt x="116192" y="697151"/>
                </a:lnTo>
                <a:lnTo>
                  <a:pt x="70978" y="688017"/>
                </a:lnTo>
                <a:lnTo>
                  <a:pt x="34037" y="663133"/>
                </a:lnTo>
                <a:lnTo>
                  <a:pt x="9144" y="626177"/>
                </a:lnTo>
                <a:lnTo>
                  <a:pt x="0" y="580959"/>
                </a:lnTo>
                <a:lnTo>
                  <a:pt x="0" y="116191"/>
                </a:lnTo>
                <a:lnTo>
                  <a:pt x="9144" y="70973"/>
                </a:lnTo>
                <a:lnTo>
                  <a:pt x="34037" y="34018"/>
                </a:lnTo>
                <a:lnTo>
                  <a:pt x="70978" y="9133"/>
                </a:lnTo>
                <a:lnTo>
                  <a:pt x="116192" y="0"/>
                </a:lnTo>
                <a:close/>
              </a:path>
            </a:pathLst>
          </a:custGeom>
          <a:noFill/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337625" y="276963"/>
            <a:ext cx="1350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IronLogic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1006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Quattrocento Sans</vt:lpstr>
      <vt:lpstr>Office Theme</vt:lpstr>
      <vt:lpstr>                  SunMAP: AI-Powered 3D Solar Planner for Every Building in Bharat</vt:lpstr>
      <vt:lpstr>SunMAP: AI-Powered 3D Solar Planner for Every Building in Bharat 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SunMAP: AI-Powered 3D Solar Planner for Every Building in Bharat</dc:title>
  <dc:creator>Mohammad Huzaifa</dc:creator>
  <cp:lastModifiedBy>Isnia Izhar</cp:lastModifiedBy>
  <cp:revision>5</cp:revision>
  <dcterms:modified xsi:type="dcterms:W3CDTF">2025-10-11T07:07:53Z</dcterms:modified>
</cp:coreProperties>
</file>